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Causes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4A261"/>
              </a:solidFill>
              <a:effectLst/>
            </c:spPr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bubble3D val="0"/>
            <c:spPr>
              <a:solidFill>
                <a:srgbClr val="2EC4B6"/>
              </a:solidFill>
              <a:effectLst/>
            </c:spPr>
          </c:dPt>
          <c:dPt>
            <c:idx val="3"/>
            <c:bubble3D val="0"/>
            <c:spPr>
              <a:solidFill>
                <a:srgbClr val="48CAE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Human Error</c:v>
                </c:pt>
                <c:pt idx="1">
                  <c:v>Mechanical</c:v>
                </c:pt>
                <c:pt idx="2">
                  <c:v>Supply Chain</c:v>
                </c:pt>
                <c:pt idx="3">
                  <c:v>Electrical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32.1</c:v>
                </c:pt>
                <c:pt idx="1">
                  <c:v>23.4</c:v>
                </c:pt>
                <c:pt idx="2">
                  <c:v>23.4</c:v>
                </c:pt>
                <c:pt idx="3">
                  <c:v>21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0B8C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20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731520"/>
            <a:ext cx="3840480" cy="3840480"/>
          </a:xfrm>
          <a:prstGeom prst="oval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0"/>
            <a:ext cx="2743200" cy="2743200"/>
          </a:xfrm>
          <a:prstGeom prst="oval">
            <a:avLst/>
          </a:prstGeom>
          <a:solidFill>
            <a:srgbClr val="F4A261">
              <a:alpha val="10000"/>
            </a:srgbClr>
          </a:solidFill>
          <a:ln w="12700">
            <a:solidFill>
              <a:srgbClr val="F4A261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606040"/>
            <a:ext cx="530352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4864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ANALYTICS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2724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— Data Lake · ML Models · KPI Dashboard · Power BI · Cybersecurity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315968"/>
            <a:ext cx="9144000" cy="82753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3525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718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Sections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97480" y="43525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35,040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97480" y="4718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Rows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43525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37760" y="4718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78040" y="43525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178040" y="4718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Tables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  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508760" cy="1234440"/>
          </a:xfrm>
          <a:prstGeom prst="rect">
            <a:avLst/>
          </a:prstGeom>
          <a:solidFill>
            <a:srgbClr val="0F2030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SCADA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1600200"/>
            <a:ext cx="228600" cy="109728"/>
          </a:xfrm>
          <a:prstGeom prst="rect">
            <a:avLst/>
          </a:prstGeom>
          <a:solidFill>
            <a:srgbClr val="90B8CC"/>
          </a:solidFill>
          <a:ln w="12700">
            <a:solidFill>
              <a:srgbClr val="90B8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1078992"/>
            <a:ext cx="1508760" cy="1234440"/>
          </a:xfrm>
          <a:prstGeom prst="rect">
            <a:avLst/>
          </a:prstGeom>
          <a:solidFill>
            <a:srgbClr val="0F203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170432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(Raw Zone)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1880" y="1600200"/>
            <a:ext cx="228600" cy="109728"/>
          </a:xfrm>
          <a:prstGeom prst="rect">
            <a:avLst/>
          </a:prstGeom>
          <a:solidFill>
            <a:srgbClr val="90B8CC"/>
          </a:solidFill>
          <a:ln w="12700">
            <a:solidFill>
              <a:srgbClr val="90B8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1078992"/>
            <a:ext cx="1508760" cy="1234440"/>
          </a:xfrm>
          <a:prstGeom prst="rect">
            <a:avLst/>
          </a:prstGeom>
          <a:solidFill>
            <a:srgbClr val="0F2030"/>
          </a:solidFill>
          <a:ln w="1524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1170432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Clean+Feat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49240" y="1600200"/>
            <a:ext cx="228600" cy="109728"/>
          </a:xfrm>
          <a:prstGeom prst="rect">
            <a:avLst/>
          </a:prstGeom>
          <a:solidFill>
            <a:srgbClr val="90B8CC"/>
          </a:solidFill>
          <a:ln w="12700">
            <a:solidFill>
              <a:srgbClr val="90B8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1078992"/>
            <a:ext cx="1508760" cy="1234440"/>
          </a:xfrm>
          <a:prstGeom prst="rect">
            <a:avLst/>
          </a:prstGeom>
          <a:solidFill>
            <a:srgbClr val="0F2030"/>
          </a:solidFill>
          <a:ln w="15240">
            <a:solidFill>
              <a:srgbClr val="48CA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1170432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· GB · ISO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86600" y="1600200"/>
            <a:ext cx="228600" cy="109728"/>
          </a:xfrm>
          <a:prstGeom prst="rect">
            <a:avLst/>
          </a:prstGeom>
          <a:solidFill>
            <a:srgbClr val="90B8CC"/>
          </a:solidFill>
          <a:ln w="12700">
            <a:solidFill>
              <a:srgbClr val="90B8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1078992"/>
            <a:ext cx="1508760" cy="1234440"/>
          </a:xfrm>
          <a:prstGeom prst="rect">
            <a:avLst/>
          </a:prstGeom>
          <a:solidFill>
            <a:srgbClr val="0F2030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1170432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Power BI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514600"/>
            <a:ext cx="2011680" cy="694944"/>
          </a:xfrm>
          <a:prstGeom prst="rect">
            <a:avLst/>
          </a:prstGeom>
          <a:solidFill>
            <a:srgbClr val="0F203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514600"/>
            <a:ext cx="54864" cy="6949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5694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 Install &amp; Import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" y="28437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 · sklearn · plotly · joblib · openpyxl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14600" y="2514600"/>
            <a:ext cx="2011680" cy="694944"/>
          </a:xfrm>
          <a:prstGeom prst="rect">
            <a:avLst/>
          </a:prstGeom>
          <a:solidFill>
            <a:srgbClr val="0F203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14600" y="2514600"/>
            <a:ext cx="54864" cy="69494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24328" y="25694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 Data Lake Setup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24328" y="28437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raw_data/ · processed_data/ · model_output/ · kpi_output/ · logs/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09160" y="2514600"/>
            <a:ext cx="2011680" cy="694944"/>
          </a:xfrm>
          <a:prstGeom prst="rect">
            <a:avLst/>
          </a:prstGeom>
          <a:solidFill>
            <a:srgbClr val="0F2030"/>
          </a:solidFill>
          <a:ln w="6350">
            <a:solidFill>
              <a:srgbClr val="2EC4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514600"/>
            <a:ext cx="54864" cy="69494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25694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 Data Ingestion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18888" y="28437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35,040 rows · 4 machines · 365 days · hourly sensor readings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03720" y="2514600"/>
            <a:ext cx="2011680" cy="694944"/>
          </a:xfrm>
          <a:prstGeom prst="rect">
            <a:avLst/>
          </a:prstGeom>
          <a:solidFill>
            <a:srgbClr val="0F2030"/>
          </a:solidFill>
          <a:ln w="6350">
            <a:solidFill>
              <a:srgbClr val="48CA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2514600"/>
            <a:ext cx="54864" cy="69494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13448" y="25694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 Cleaning &amp; Validation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13448" y="28437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check · Range flags · Interpolation · Clipping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3319272"/>
            <a:ext cx="2011680" cy="694944"/>
          </a:xfrm>
          <a:prstGeom prst="rect">
            <a:avLst/>
          </a:prstGeom>
          <a:solidFill>
            <a:srgbClr val="0F203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319272"/>
            <a:ext cx="54864" cy="6949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" y="3374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 Feature Engineering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9768" y="36484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stats · Lag features · Rate-of-change · Health Score · OEE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514600" y="3319272"/>
            <a:ext cx="2011680" cy="694944"/>
          </a:xfrm>
          <a:prstGeom prst="rect">
            <a:avLst/>
          </a:prstGeom>
          <a:solidFill>
            <a:srgbClr val="0F203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14600" y="3319272"/>
            <a:ext cx="54864" cy="69494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24328" y="3374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 Exploratory Analysis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624328" y="36484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· Correlation heatmap · Monthly failures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09160" y="3319272"/>
            <a:ext cx="2011680" cy="694944"/>
          </a:xfrm>
          <a:prstGeom prst="rect">
            <a:avLst/>
          </a:prstGeom>
          <a:solidFill>
            <a:srgbClr val="0F2030"/>
          </a:solidFill>
          <a:ln w="6350">
            <a:solidFill>
              <a:srgbClr val="2EC4B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3319272"/>
            <a:ext cx="54864" cy="69494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18888" y="3374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 Model Training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18888" y="36484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Gradient Boost · Isolation Forest · joblib.dump()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903720" y="3319272"/>
            <a:ext cx="2011680" cy="694944"/>
          </a:xfrm>
          <a:prstGeom prst="rect">
            <a:avLst/>
          </a:prstGeom>
          <a:solidFill>
            <a:srgbClr val="0F2030"/>
          </a:solidFill>
          <a:ln w="6350">
            <a:solidFill>
              <a:srgbClr val="48CA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03720" y="3319272"/>
            <a:ext cx="54864" cy="69494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13448" y="3374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 Model Evaluation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013448" y="36484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Precision · Recall · F1 · ROC-AUC · Confusion Matrix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20040" y="4123944"/>
            <a:ext cx="2011680" cy="694944"/>
          </a:xfrm>
          <a:prstGeom prst="rect">
            <a:avLst/>
          </a:prstGeom>
          <a:solidFill>
            <a:srgbClr val="0F203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040" y="4123944"/>
            <a:ext cx="54864" cy="6949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9768" y="4178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  KPI Metrics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29768" y="44531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· MTBF · Downtime% · Yield · Health Score per machine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514600" y="4123944"/>
            <a:ext cx="2011680" cy="694944"/>
          </a:xfrm>
          <a:prstGeom prst="rect">
            <a:avLst/>
          </a:prstGeom>
          <a:solidFill>
            <a:srgbClr val="0F203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14600" y="4123944"/>
            <a:ext cx="54864" cy="69494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24328" y="4178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  Save All Outputs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624328" y="44531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predictions.csv · final_dataset.csv · pipeline_summary.json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709160" y="4123944"/>
            <a:ext cx="2011680" cy="694944"/>
          </a:xfrm>
          <a:prstGeom prst="rect">
            <a:avLst/>
          </a:prstGeom>
          <a:solidFill>
            <a:srgbClr val="0F2030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09160" y="4123944"/>
            <a:ext cx="54864" cy="69494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18888" y="4178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  Cybersecurity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818888" y="44531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 · RBAC · Data masking · Audit log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903720" y="4123944"/>
            <a:ext cx="2011680" cy="694944"/>
          </a:xfrm>
          <a:prstGeom prst="rect">
            <a:avLst/>
          </a:prstGeom>
          <a:solidFill>
            <a:srgbClr val="0F2030"/>
          </a:solidFill>
          <a:ln w="6350">
            <a:solidFill>
              <a:srgbClr val="2EC4B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03720" y="4123944"/>
            <a:ext cx="54864" cy="69494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13448" y="4178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  Power BI Export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013448" y="44531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CSVs + Excel workbook · Star schema · 7 sheets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20040" y="4928616"/>
            <a:ext cx="2011680" cy="694944"/>
          </a:xfrm>
          <a:prstGeom prst="rect">
            <a:avLst/>
          </a:prstGeom>
          <a:solidFill>
            <a:srgbClr val="0F2030"/>
          </a:solidFill>
          <a:ln w="6350">
            <a:solidFill>
              <a:srgbClr val="48CAE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0040" y="4928616"/>
            <a:ext cx="54864" cy="69494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9768" y="4983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  Download ZIP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29768" y="52578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data_lake/ folder · All outputs packaged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  DATA LAKE SETUP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enterprise Data Lake folder structure (AWS S3 / Azure Data Lake in production)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114800" cy="1051560"/>
          </a:xfrm>
          <a:prstGeom prst="rect">
            <a:avLst/>
          </a:prstGeom>
          <a:solidFill>
            <a:srgbClr val="0F2030"/>
          </a:solidFill>
          <a:ln w="8890">
            <a:solidFill>
              <a:srgbClr val="F4A2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63040"/>
            <a:ext cx="64008" cy="1051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527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raw_data/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1828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sensor CSV — NEVER modified. Source of truth.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sensor_readings_2024.csv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4114800" cy="1051560"/>
          </a:xfrm>
          <a:prstGeom prst="rect">
            <a:avLst/>
          </a:prstGeom>
          <a:solidFill>
            <a:srgbClr val="0F2030"/>
          </a:solidFill>
          <a:ln w="889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463040"/>
            <a:ext cx="6400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527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processed_data/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73752" y="1828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+ feature-engineered data ready for modelling.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73752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cleaned_sensor_data.csv   ·   engineered_features.csv   ·   final_dataset.csv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651760"/>
            <a:ext cx="4114800" cy="1051560"/>
          </a:xfrm>
          <a:prstGeom prst="rect">
            <a:avLst/>
          </a:prstGeom>
          <a:solidFill>
            <a:srgbClr val="0F2030"/>
          </a:solidFill>
          <a:ln w="8890">
            <a:solidFill>
              <a:srgbClr val="2EC4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651760"/>
            <a:ext cx="64008" cy="10515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715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model_output/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" y="3017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.pkl models + predictions + feature list.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random_forest.pkl   ·   gradient_boost.pkl   ·   isolation_forest.pkl   ·   predictions.csv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651760"/>
            <a:ext cx="4114800" cy="1051560"/>
          </a:xfrm>
          <a:prstGeom prst="rect">
            <a:avLst/>
          </a:prstGeom>
          <a:solidFill>
            <a:srgbClr val="0F2030"/>
          </a:solidFill>
          <a:ln w="8890">
            <a:solidFill>
              <a:srgbClr val="48CA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651760"/>
            <a:ext cx="64008" cy="105156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2715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kpi_output/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73752" y="3017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tables, charts, dashboard exports.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73752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machine_kpis.csv   ·   shift_kpis.csv   ·   kpi_dashboard.png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840480"/>
            <a:ext cx="4114800" cy="1051560"/>
          </a:xfrm>
          <a:prstGeom prst="rect">
            <a:avLst/>
          </a:prstGeom>
          <a:solidFill>
            <a:srgbClr val="0F2030"/>
          </a:solidFill>
          <a:ln w="8890">
            <a:solidFill>
              <a:srgbClr val="F4A2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840480"/>
            <a:ext cx="64008" cy="1051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9044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powerbi_export/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" y="4206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CSVs + Excel workbook for Power BI Desktop.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" y="4498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ManufacturingAnalytics_PowerBI.xlsx   ·   PBI_Fact_*.csv   ·   PBI_Dim_*.csv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3840480"/>
            <a:ext cx="4114800" cy="1051560"/>
          </a:xfrm>
          <a:prstGeom prst="rect">
            <a:avLst/>
          </a:prstGeom>
          <a:solidFill>
            <a:srgbClr val="0F2030"/>
          </a:solidFill>
          <a:ln w="8890">
            <a:solidFill>
              <a:srgbClr val="E639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3840480"/>
            <a:ext cx="64008" cy="1051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39044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73752" y="4206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 log, audit trail, SHA-256 hash manifest.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73752" y="4498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pipeline_log.json   ·   audit_log.json   ·   file_hash_manifest.json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  STEP 1: DATA INGESTION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743200" cy="3794760"/>
          </a:xfrm>
          <a:prstGeom prst="rect">
            <a:avLst/>
          </a:prstGeom>
          <a:solidFill>
            <a:srgbClr val="0F2030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35,040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578608"/>
            <a:ext cx="2194560" cy="36576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249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2768" y="2770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2278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72768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7307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2768" y="3776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Readings/day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2336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72768" y="4279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1024128"/>
            <a:ext cx="5440680" cy="658368"/>
          </a:xfrm>
          <a:prstGeom prst="rect">
            <a:avLst/>
          </a:prstGeom>
          <a:solidFill>
            <a:srgbClr val="0F2030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1024128"/>
            <a:ext cx="64008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83864" y="1078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(°C)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83864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from motor / friction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23560" y="1078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75°C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23560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Failure: 85–105°C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86600" y="12070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to: raw_data/sensor_readings_2024.csv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37560" y="1773936"/>
            <a:ext cx="5440680" cy="658368"/>
          </a:xfrm>
          <a:prstGeom prst="rect">
            <a:avLst/>
          </a:prstGeom>
          <a:solidFill>
            <a:srgbClr val="0F203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1773936"/>
            <a:ext cx="64008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83864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(mm/s)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83864" y="21214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wear &amp; bearing stress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2356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2.5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23560" y="21214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Failure: 4–7 mm/s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86600" y="195681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to: raw_data/sensor_readings_2024.csv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37560" y="2523744"/>
            <a:ext cx="5440680" cy="658368"/>
          </a:xfrm>
          <a:prstGeom prst="rect">
            <a:avLst/>
          </a:prstGeom>
          <a:solidFill>
            <a:srgbClr val="0F203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2523744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83864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(PSI)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83864" y="28712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Hydraulic/pneumatic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23560" y="2578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100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23560" y="28712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Failure: spike/drop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86600" y="27066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to: raw_data/sensor_readings_2024.csv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37560" y="3273552"/>
            <a:ext cx="5440680" cy="658368"/>
          </a:xfrm>
          <a:prstGeom prst="rect">
            <a:avLst/>
          </a:prstGeom>
          <a:solidFill>
            <a:srgbClr val="0F2030"/>
          </a:solidFill>
          <a:ln w="6350">
            <a:solidFill>
              <a:srgbClr val="2EC4B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37560" y="3273552"/>
            <a:ext cx="64008" cy="6583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83864" y="33284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(rpm)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483864" y="362102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Spindle / motor speed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23560" y="33284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1500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23560" y="36210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Failure: &lt; 1200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86600" y="34564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to: raw_data/sensor_readings_2024.csv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337560" y="4023360"/>
            <a:ext cx="5440680" cy="658368"/>
          </a:xfrm>
          <a:prstGeom prst="rect">
            <a:avLst/>
          </a:prstGeom>
          <a:solidFill>
            <a:srgbClr val="0F2030"/>
          </a:solidFill>
          <a:ln w="6350">
            <a:solidFill>
              <a:srgbClr val="48CA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37560" y="4023360"/>
            <a:ext cx="64008" cy="65836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83864" y="40782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(Amps)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483864" y="43708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load draw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23560" y="4078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15A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623560" y="4370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Failure: 18–23A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086600" y="4206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to: raw_data/sensor_readings_2024.csv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S4–S5   DATA CLEANING &amp; FEATURE ENGINEERING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Data Cleaning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14800" cy="713232"/>
          </a:xfrm>
          <a:prstGeom prst="rect">
            <a:avLst/>
          </a:prstGeom>
          <a:solidFill>
            <a:srgbClr val="0F203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600200"/>
            <a:ext cx="347472" cy="347472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4721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Detection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7647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df[SENSOR_COLS].isnull().sum()  → 0 nulls found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4114800" cy="713232"/>
          </a:xfrm>
          <a:prstGeom prst="rect">
            <a:avLst/>
          </a:prstGeom>
          <a:solidFill>
            <a:srgbClr val="0F203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2423160"/>
            <a:ext cx="347472" cy="347472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22951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Validation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25877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rows outside physical limits (e.g. temp &lt; 50°C or &gt; 150°C)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4114800" cy="713232"/>
          </a:xfrm>
          <a:prstGeom prst="rect">
            <a:avLst/>
          </a:prstGeom>
          <a:solidFill>
            <a:srgbClr val="0F203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3246120"/>
            <a:ext cx="347472" cy="347472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3118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34107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groupby('machine_id') → .interpolate(method='linear', limit_direction='both')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886200"/>
            <a:ext cx="4114800" cy="713232"/>
          </a:xfrm>
          <a:prstGeom prst="rect">
            <a:avLst/>
          </a:prstGeom>
          <a:solidFill>
            <a:srgbClr val="0F203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4069080"/>
            <a:ext cx="347472" cy="347472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" y="3941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Clipping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42336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df[col].clip(lo, hi)  — idempotent, safe to re-run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10241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Feature Engineering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09160" y="1417320"/>
            <a:ext cx="4069080" cy="640080"/>
          </a:xfrm>
          <a:prstGeom prst="rect">
            <a:avLst/>
          </a:prstGeom>
          <a:solidFill>
            <a:srgbClr val="0F203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1417320"/>
            <a:ext cx="64008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14721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Mean/Std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64608" y="17556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· 6h · 12h windows × 5 sensors = 30 features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2167128"/>
            <a:ext cx="4069080" cy="640080"/>
          </a:xfrm>
          <a:prstGeom prst="rect">
            <a:avLst/>
          </a:prstGeom>
          <a:solidFill>
            <a:srgbClr val="0F203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2167128"/>
            <a:ext cx="64008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2221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64608" y="25054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and 3h lookback × 5 sensors = 10 features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2916936"/>
            <a:ext cx="4069080" cy="640080"/>
          </a:xfrm>
          <a:prstGeom prst="rect">
            <a:avLst/>
          </a:prstGeom>
          <a:solidFill>
            <a:srgbClr val="0F2030"/>
          </a:solidFill>
          <a:ln w="6350">
            <a:solidFill>
              <a:srgbClr val="2EC4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2916936"/>
            <a:ext cx="64008" cy="6400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2971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Change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64608" y="32552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df.diff() for temp &amp; vibration = 5 features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3666744"/>
            <a:ext cx="4069080" cy="640080"/>
          </a:xfrm>
          <a:prstGeom prst="rect">
            <a:avLst/>
          </a:prstGeom>
          <a:solidFill>
            <a:srgbClr val="0F2030"/>
          </a:solidFill>
          <a:ln w="6350">
            <a:solidFill>
              <a:srgbClr val="48CA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3666744"/>
            <a:ext cx="64008" cy="64008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37216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64608" y="40050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0–100: temp(30) + vib(30) + pres(20) + rpm(20)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4416552"/>
            <a:ext cx="4069080" cy="640080"/>
          </a:xfrm>
          <a:prstGeom prst="rect">
            <a:avLst/>
          </a:prstGeom>
          <a:solidFill>
            <a:srgbClr val="0F2030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4416552"/>
            <a:ext cx="64008" cy="640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44714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Components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64608" y="47548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× Performance × Quality Rate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4709160"/>
            <a:ext cx="8503920" cy="29260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7365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15 raw columns  →  68 total columns  |  53 new features engineered  |  Saved: processed_data/engineered_features.csv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  EXPLORATORY DATA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206240" cy="1664208"/>
          </a:xfrm>
          <a:prstGeom prst="rect">
            <a:avLst/>
          </a:prstGeom>
          <a:solidFill>
            <a:srgbClr val="0F203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4206240" cy="36576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1: Sensor Distributions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per machine for all 5 sensors + health score. Shows normal operating spread vs degraded outliers.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4323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eda_01_distributions.png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078992"/>
            <a:ext cx="4206240" cy="1664208"/>
          </a:xfrm>
          <a:prstGeom prst="rect">
            <a:avLst/>
          </a:prstGeom>
          <a:solidFill>
            <a:srgbClr val="0F2030"/>
          </a:solidFill>
          <a:ln w="10160">
            <a:solidFill>
              <a:srgbClr val="E639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78992"/>
            <a:ext cx="4206240" cy="365760"/>
          </a:xfrm>
          <a:prstGeom prst="rect">
            <a:avLst/>
          </a:prstGeom>
          <a:solidFill>
            <a:srgbClr val="E63946">
              <a:alpha val="2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43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2: Normal vs Failure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53619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histograms — green = no failure, red = failure. Temperature and vibration show clear separation.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92040" y="24323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eda_02_normal_vs_failure.png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953512"/>
            <a:ext cx="4206240" cy="1664208"/>
          </a:xfrm>
          <a:prstGeom prst="rect">
            <a:avLst/>
          </a:prstGeom>
          <a:solidFill>
            <a:srgbClr val="0F2030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53512"/>
            <a:ext cx="4206240" cy="365760"/>
          </a:xfrm>
          <a:prstGeom prst="rect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175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3: Correlation Heatmap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41071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Lower-triangle heatmap of all sensor + health + OEE + failure correlations. Reveals multicollinearity.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3068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eda_03_correlation.png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953512"/>
            <a:ext cx="4206240" cy="1664208"/>
          </a:xfrm>
          <a:prstGeom prst="rect">
            <a:avLst/>
          </a:prstGeom>
          <a:solidFill>
            <a:srgbClr val="0F2030"/>
          </a:solidFill>
          <a:ln w="10160">
            <a:solidFill>
              <a:srgbClr val="2EC4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953512"/>
            <a:ext cx="4206240" cy="365760"/>
          </a:xfrm>
          <a:prstGeom prst="rect">
            <a:avLst/>
          </a:prstGeom>
          <a:solidFill>
            <a:srgbClr val="2EC4B6">
              <a:alpha val="20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0175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4: Monthly Failures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41071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interactive grouped bar — failure count per machine per month. Identifies seasonal patterns.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43068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Plotly interactive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  STEP 5: MODEL TRAINING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697480" cy="3858768"/>
          </a:xfrm>
          <a:prstGeom prst="rect">
            <a:avLst/>
          </a:prstGeom>
          <a:solidFill>
            <a:srgbClr val="0F2030"/>
          </a:solidFill>
          <a:ln w="1143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2697480" cy="438912"/>
          </a:xfrm>
          <a:prstGeom prst="rect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69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Random Forest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536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Classification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847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machine going to fail? YES / NO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768" y="2304288"/>
            <a:ext cx="2468880" cy="2743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3957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2670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n_estimators = 100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2980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max_depth = 12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class_weight = 'balanced'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" y="3602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n_jobs = -1 (all CPU cores)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" y="4370832"/>
            <a:ext cx="2468880" cy="411480"/>
          </a:xfrm>
          <a:prstGeom prst="rect">
            <a:avLst/>
          </a:prstGeom>
          <a:solidFill>
            <a:srgbClr val="00B4D8">
              <a:alpha val="20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44256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random_forest.pkl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1024128"/>
            <a:ext cx="2697480" cy="3858768"/>
          </a:xfrm>
          <a:prstGeom prst="rect">
            <a:avLst/>
          </a:prstGeom>
          <a:solidFill>
            <a:srgbClr val="0F2030"/>
          </a:solidFill>
          <a:ln w="11430">
            <a:solidFill>
              <a:srgbClr val="F4A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1024128"/>
            <a:ext cx="2697480" cy="438912"/>
          </a:xfrm>
          <a:prstGeom prst="rect">
            <a:avLst/>
          </a:prstGeom>
          <a:solidFill>
            <a:srgbClr val="F4A261">
              <a:alpha val="28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1069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Gradient Boosting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55848" y="1536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Probability Scoring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55848" y="1847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% probability of failure in the next hours?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55848" y="2304288"/>
            <a:ext cx="2468880" cy="2743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23957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55848" y="2670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n_estimators = 150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55848" y="2980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max_depth = 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55848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learning_rate = 0.1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55848" y="3602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subsample = 0.8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55848" y="4370832"/>
            <a:ext cx="2468880" cy="411480"/>
          </a:xfrm>
          <a:prstGeom prst="rect">
            <a:avLst/>
          </a:prstGeom>
          <a:solidFill>
            <a:srgbClr val="F4A261">
              <a:alpha val="20000"/>
            </a:srgbClr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0712" y="44256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gradient_boost.pkl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1024128"/>
            <a:ext cx="2697480" cy="3858768"/>
          </a:xfrm>
          <a:prstGeom prst="rect">
            <a:avLst/>
          </a:prstGeom>
          <a:solidFill>
            <a:srgbClr val="0F2030"/>
          </a:solidFill>
          <a:ln w="11430">
            <a:solidFill>
              <a:srgbClr val="2EC4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1024128"/>
            <a:ext cx="2697480" cy="438912"/>
          </a:xfrm>
          <a:prstGeom prst="rect">
            <a:avLst/>
          </a:prstGeom>
          <a:solidFill>
            <a:srgbClr val="2EC4B6">
              <a:alpha val="28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81928" y="1069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Isolation Forest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81928" y="1536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(Unsupervised)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81928" y="1847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sensor reading anomalous — even without labels?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81928" y="2304288"/>
            <a:ext cx="2468880" cy="2743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81928" y="23957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81928" y="2670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n_estimators = 100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81928" y="2980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contamination = 0.05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81928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Unsupervised — no labels needed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81928" y="3602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 cold-start plants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81928" y="4370832"/>
            <a:ext cx="2468880" cy="411480"/>
          </a:xfrm>
          <a:prstGeom prst="rect">
            <a:avLst/>
          </a:prstGeom>
          <a:solidFill>
            <a:srgbClr val="2EC4B6">
              <a:alpha val="20000"/>
            </a:srgbClr>
          </a:solidFill>
          <a:ln w="6350">
            <a:solidFill>
              <a:srgbClr val="2EC4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36792" y="44256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isolation_forest.pkl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754880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saved with joblib.dump() to data_lake/model_output/  ·  feature_list.json saved for reproducibility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  STEP 6: MODEL EVALUATION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metric matters: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3749040" cy="603504"/>
          </a:xfrm>
          <a:prstGeom prst="rect">
            <a:avLst/>
          </a:prstGeom>
          <a:solidFill>
            <a:srgbClr val="0F2030"/>
          </a:solidFill>
          <a:ln w="635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538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143560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68880" y="151790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% correct — strong baseline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103120"/>
            <a:ext cx="3749040" cy="603504"/>
          </a:xfrm>
          <a:prstGeom prst="rect">
            <a:avLst/>
          </a:prstGeom>
          <a:solidFill>
            <a:srgbClr val="0F203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21488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68880" y="22311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false alarms — operators trust the alerts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816352"/>
            <a:ext cx="3749040" cy="603504"/>
          </a:xfrm>
          <a:prstGeom prst="rect">
            <a:avLst/>
          </a:prstGeom>
          <a:solidFill>
            <a:srgbClr val="0F203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803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28620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68880" y="29443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missed failures — no unexpected breakdown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529584"/>
            <a:ext cx="3749040" cy="603504"/>
          </a:xfrm>
          <a:prstGeom prst="rect">
            <a:avLst/>
          </a:prstGeom>
          <a:solidFill>
            <a:srgbClr val="0F2030"/>
          </a:solidFill>
          <a:ln w="6350">
            <a:solidFill>
              <a:srgbClr val="48CA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93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00200" y="357530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468880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balance between precision &amp; recall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4242816"/>
            <a:ext cx="3749040" cy="603504"/>
          </a:xfrm>
          <a:prstGeom prst="rect">
            <a:avLst/>
          </a:prstGeom>
          <a:solidFill>
            <a:srgbClr val="0F2030"/>
          </a:solidFill>
          <a:ln w="635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068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00200" y="42885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468880" y="43708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discrimination at all thresholds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43400" y="10241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Results: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371600"/>
          <a:ext cx="4480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731520"/>
                <a:gridCol w="731520"/>
                <a:gridCol w="822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0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Detect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4343400" y="3154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saved to kpi_output/: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480560" y="34930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ROC curves (both models)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480560" y="38039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Confusion Matrix (Random Forest)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480560" y="41148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12 Feature Importances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480560" y="44256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Failure probability distribution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480560" y="47365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Health score time series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   STEP 7: KPI METRICS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920240" cy="960120"/>
          </a:xfrm>
          <a:prstGeom prst="rect">
            <a:avLst/>
          </a:prstGeom>
          <a:solidFill>
            <a:srgbClr val="0F2030"/>
          </a:solidFill>
          <a:ln w="1016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881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5179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OEE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7465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class = 85%+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68880" y="1024128"/>
            <a:ext cx="1920240" cy="960120"/>
          </a:xfrm>
          <a:prstGeom prst="rect">
            <a:avLst/>
          </a:prstGeom>
          <a:solidFill>
            <a:srgbClr val="0F203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0881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60320" y="15179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Availability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60320" y="17465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&gt; 95%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17720" y="1024128"/>
            <a:ext cx="1920240" cy="960120"/>
          </a:xfrm>
          <a:prstGeom prst="rect">
            <a:avLst/>
          </a:prstGeom>
          <a:solidFill>
            <a:srgbClr val="0F2030"/>
          </a:solidFill>
          <a:ln w="10160">
            <a:solidFill>
              <a:srgbClr val="48C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881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hrs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09160" y="15179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09160" y="17465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better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66560" y="1024128"/>
            <a:ext cx="1920240" cy="960120"/>
          </a:xfrm>
          <a:prstGeom prst="rect">
            <a:avLst/>
          </a:prstGeom>
          <a:solidFill>
            <a:srgbClr val="0F2030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0881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0" y="15179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0" y="17465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&lt; 5%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0040" y="21214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Per-Machine KPI Summary: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450592"/>
          <a:ext cx="50292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640080"/>
                <a:gridCol w="640080"/>
                <a:gridCol w="640080"/>
                <a:gridCol w="640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OEE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CNC Lathe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Hydraulic Press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 Robot 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Conveyor Drive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30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5623560" y="2121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Root Causes:</a:t>
            </a:r>
            <a:endParaRPr lang="en-US" sz="12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486400" y="2423160"/>
          <a:ext cx="3337560" cy="2487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   CYBERSECURITY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60520" cy="1691640"/>
          </a:xfrm>
          <a:prstGeom prst="rect">
            <a:avLst/>
          </a:prstGeom>
          <a:solidFill>
            <a:srgbClr val="0F2030"/>
          </a:solidFill>
          <a:ln w="1016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4160520" cy="411480"/>
          </a:xfrm>
          <a:prstGeom prst="rect">
            <a:avLst/>
          </a:prstGeom>
          <a:solidFill>
            <a:srgbClr val="E63946">
              <a:alpha val="22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Control 01: SHA-256 Data Integrity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819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in the Data Lake is hashed on write. On next load the hash is recomputed and compared — any mismatch = tampering detected.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88620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hashlib.sha256(file_bytes).hexdigest()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27448" y="1078992"/>
            <a:ext cx="4160520" cy="1691640"/>
          </a:xfrm>
          <a:prstGeom prst="rect">
            <a:avLst/>
          </a:prstGeom>
          <a:solidFill>
            <a:srgbClr val="0F2030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27448" y="1078992"/>
            <a:ext cx="4160520" cy="411480"/>
          </a:xfrm>
          <a:prstGeom prst="rect">
            <a:avLst/>
          </a:prstGeom>
          <a:solidFill>
            <a:srgbClr val="F4A261">
              <a:alpha val="22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Control 02: Role-Based Access Control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64608" y="15819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roles defined: plant_operator, data_engineer, ml_engineer, plant_manager, security_admin. Each role has explicit read/write permissions per zone.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64608" y="2286000"/>
            <a:ext cx="388620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28616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RBAC_ROLES = { 'ml_engineer': ['read:processed', 'write:model_output'] }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953512"/>
            <a:ext cx="4160520" cy="1691640"/>
          </a:xfrm>
          <a:prstGeom prst="rect">
            <a:avLst/>
          </a:prstGeom>
          <a:solidFill>
            <a:srgbClr val="0F203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53512"/>
            <a:ext cx="4160520" cy="411480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17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Control 03: Sensitive Data Masking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5643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serial numbers, operator IDs, and GPS coordinates are masked before data leaves the secure zone. mask_id() truncates after 4 visible chars.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388620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4206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mask_id(value): return str(value)[:4] + '*' * (len(str(value))-4)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27448" y="2953512"/>
            <a:ext cx="4160520" cy="1691640"/>
          </a:xfrm>
          <a:prstGeom prst="rect">
            <a:avLst/>
          </a:prstGeom>
          <a:solidFill>
            <a:srgbClr val="0F2030"/>
          </a:solidFill>
          <a:ln w="10160">
            <a:solidFill>
              <a:srgbClr val="2EC4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27448" y="2953512"/>
            <a:ext cx="4160520" cy="411480"/>
          </a:xfrm>
          <a:prstGeom prst="rect">
            <a:avLst/>
          </a:prstGeom>
          <a:solidFill>
            <a:srgbClr val="2EC4B6">
              <a:alpha val="22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3017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Control 04: Audit Log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64608" y="345643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pipeline action is logged with timestamp, user, and event type. Saved to logs/audit_log.json for compliance review.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64608" y="4160520"/>
            <a:ext cx="3886200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4206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'event': 'model_trained', 'user': 'ml_engineer_01', 'timestamp': ... 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 ISO 27001   ·   IEC 62443 (Industrial Systems)   ·   NIST Cybersecurity Framework   ·   GDPR Art.32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   POWER BI EXPORT — STAR SCHEMA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337560" y="1920240"/>
            <a:ext cx="2468880" cy="1143000"/>
          </a:xfrm>
          <a:prstGeom prst="rect">
            <a:avLst/>
          </a:prstGeom>
          <a:solidFill>
            <a:srgbClr val="0F203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37560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37560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Fact_SensorReadings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37560" y="25054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35,040 rows · 24 columns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37560" y="2743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machine_id  ·  date  ·  oee  ·  failure_prob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2286000" cy="822960"/>
          </a:xfrm>
          <a:prstGeom prst="rect">
            <a:avLst/>
          </a:prstGeom>
          <a:solidFill>
            <a:srgbClr val="0F2030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39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Dim_Machine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3500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rows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5511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machine_id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3246120"/>
            <a:ext cx="2286000" cy="822960"/>
          </a:xfrm>
          <a:prstGeom prst="rect">
            <a:avLst/>
          </a:prstGeom>
          <a:solidFill>
            <a:srgbClr val="0F2030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192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6301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366 rows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8313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75120" y="1965960"/>
            <a:ext cx="2286000" cy="822960"/>
          </a:xfrm>
          <a:prstGeom prst="rect">
            <a:avLst/>
          </a:prstGeom>
          <a:solidFill>
            <a:srgbClr val="0F2030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2039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Fact_DailyKPI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23500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1,460 rows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66560" y="25511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machine_id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75120" y="3246120"/>
            <a:ext cx="2286000" cy="822960"/>
          </a:xfrm>
          <a:prstGeom prst="rect">
            <a:avLst/>
          </a:prstGeom>
          <a:solidFill>
            <a:srgbClr val="0F2030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33192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Fact_Alerts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36301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 rows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0" y="38313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machine_id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DAX Measures: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4160520"/>
            <a:ext cx="8503920" cy="155448"/>
          </a:xfrm>
          <a:prstGeom prst="rect">
            <a:avLst/>
          </a:prstGeom>
          <a:solidFill>
            <a:srgbClr val="0F2030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178808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OEE % = ROUND(AVERAGE(Fact_DailyKPI[avg_oee]) * 100, 1)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4325112"/>
            <a:ext cx="8503920" cy="155448"/>
          </a:xfrm>
          <a:prstGeom prst="rect">
            <a:avLst/>
          </a:prstGeom>
          <a:solidFill>
            <a:srgbClr val="0D1B2A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343400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Failures = SUM(Fact_DailyKPI[total_failures])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4489704"/>
            <a:ext cx="8503920" cy="155448"/>
          </a:xfrm>
          <a:prstGeom prst="rect">
            <a:avLst/>
          </a:prstGeom>
          <a:solidFill>
            <a:srgbClr val="0F2030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507992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MTBF = AVERAGE(Fact_DailyKPI[mtbf])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4654296"/>
            <a:ext cx="8503920" cy="155448"/>
          </a:xfrm>
          <a:prstGeom prst="rect">
            <a:avLst/>
          </a:prstGeom>
          <a:solidFill>
            <a:srgbClr val="0D1B2A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672584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Risk Alerts = COUNTROWS(FILTER(Fact_Alerts, [risk_level] = "HIGH"))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4818888"/>
            <a:ext cx="8503920" cy="155448"/>
          </a:xfrm>
          <a:prstGeom prst="rect">
            <a:avLst/>
          </a:prstGeom>
          <a:solidFill>
            <a:srgbClr val="0F2030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837176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Downtime % = DIVIDE(SUM([downtime_hours]), SUM([total_readings])) * 100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4114800" cy="4114800"/>
          </a:xfrm>
          <a:prstGeom prst="oval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oval">
            <a:avLst/>
          </a:prstGeom>
          <a:solidFill>
            <a:srgbClr val="F4A261">
              <a:alpha val="8000"/>
            </a:srgbClr>
          </a:solidFill>
          <a:ln w="12700">
            <a:solidFill>
              <a:srgbClr val="F4A261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Operations Analytics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1664208"/>
            <a:ext cx="914400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450592"/>
            <a:ext cx="914400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556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8013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Sections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17556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35,040  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18013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Rows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17556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 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0" y="18013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Engineered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75120" y="17556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18120" y="18013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1031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21488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Accuracy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68880" y="21031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 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11880" y="21488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21031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  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0" y="21488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OEE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75120" y="21031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18120" y="21488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Tables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542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Data Lake   ✅ Pipeline   ✅ ML Models   ✅ KPIs   ✅ Cybersecurity   ✅ Power BI   ✅ Audit Logs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 TCS Data &amp; Analytics   ·   AWS Data Lakes   ·   Azure Data Lake Analytics   ·   Tableau Manufacturing   ·   IBM Data Lake Solutions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Manufacturing Analytics — Complete Project</dc:title>
  <dc:subject>PptxGenJS Presentation</dc:subject>
  <dc:creator>PptxGenJS</dc:creator>
  <cp:lastModifiedBy>PptxGenJS</cp:lastModifiedBy>
  <cp:revision>1</cp:revision>
  <dcterms:created xsi:type="dcterms:W3CDTF">2026-03-18T14:04:49Z</dcterms:created>
  <dcterms:modified xsi:type="dcterms:W3CDTF">2026-03-18T14:04:49Z</dcterms:modified>
</cp:coreProperties>
</file>